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A1F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A1F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20824.72</c:v>
                </c:pt>
                <c:pt idx="1">
                  <c:v>19678.55</c:v>
                </c:pt>
                <c:pt idx="2">
                  <c:v>21123.02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A1F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Shakes</c:v>
                  </c:pt>
                  <c:pt idx="1">
                    <c:v>Salad</c:v>
                  </c:pt>
                  <c:pt idx="2">
                    <c:v>Wraps</c:v>
                  </c:pt>
                  <c:pt idx="3">
                    <c:v>Breakfast</c:v>
                  </c:pt>
                  <c:pt idx="4">
                    <c:v>Fries</c:v>
                  </c:pt>
                  <c:pt idx="5">
                    <c:v>Sides</c:v>
                  </c:pt>
                  <c:pt idx="6">
                    <c:v>Sandwich</c:v>
                  </c:pt>
                  <c:pt idx="7">
                    <c:v>Pasta</c:v>
                  </c:pt>
                  <c:pt idx="8">
                    <c:v>Chicken</c:v>
                  </c:pt>
                  <c:pt idx="9">
                    <c:v>Burger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1082.38</c:v>
                </c:pt>
                <c:pt idx="1">
                  <c:v>1147.41</c:v>
                </c:pt>
                <c:pt idx="2">
                  <c:v>1225.62</c:v>
                </c:pt>
                <c:pt idx="3">
                  <c:v>1286.19</c:v>
                </c:pt>
                <c:pt idx="4">
                  <c:v>2510.2</c:v>
                </c:pt>
                <c:pt idx="5">
                  <c:v>2876.98</c:v>
                </c:pt>
                <c:pt idx="6">
                  <c:v>8241.95</c:v>
                </c:pt>
                <c:pt idx="7">
                  <c:v>9223.05</c:v>
                </c:pt>
                <c:pt idx="8">
                  <c:v>12393.5</c:v>
                </c:pt>
                <c:pt idx="9">
                  <c:v>21639.01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A1F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A1F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A0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Night</c:v>
                  </c:pt>
                  <c:pt idx="1">
                    <c:v>Noon</c:v>
                  </c:pt>
                  <c:pt idx="2">
                    <c:v>Evening</c:v>
                  </c:pt>
                  <c:pt idx="3">
                    <c:v>Morning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28161.62</c:v>
                </c:pt>
                <c:pt idx="1">
                  <c:v>21248.62</c:v>
                </c:pt>
                <c:pt idx="2">
                  <c:v>9136.8</c:v>
                </c:pt>
                <c:pt idx="3">
                  <c:v>3079.25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DA1F2C"/>
            </a:solidFill>
            <a:ln w="38100" cap="flat">
              <a:solidFill>
                <a:srgbClr val="DA1F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A1F2C"/>
              </a:solidFill>
              <a:ln w="9525" cap="flat">
                <a:solidFill>
                  <a:srgbClr val="DA1F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Sun</c:v>
                  </c:pt>
                  <c:pt idx="2">
                    <c:v>Fri</c:v>
                  </c:pt>
                  <c:pt idx="3">
                    <c:v>Tue</c:v>
                  </c:pt>
                  <c:pt idx="4">
                    <c:v>Thu</c:v>
                  </c:pt>
                  <c:pt idx="5">
                    <c:v>Sat</c:v>
                  </c:pt>
                  <c:pt idx="6">
                    <c:v>Wed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885</c:v>
                </c:pt>
                <c:pt idx="1">
                  <c:v>796</c:v>
                </c:pt>
                <c:pt idx="2">
                  <c:v>787</c:v>
                </c:pt>
                <c:pt idx="3">
                  <c:v>766</c:v>
                </c:pt>
                <c:pt idx="4">
                  <c:v>743</c:v>
                </c:pt>
                <c:pt idx="5">
                  <c:v>711</c:v>
                </c:pt>
                <c:pt idx="6">
                  <c:v>682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FC7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2D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C72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Side Salad</c:v>
                  </c:pt>
                  <c:pt idx="1">
                    <c:v>Big Mac</c:v>
                  </c:pt>
                  <c:pt idx="2">
                    <c:v>Quarter Pounder</c:v>
                  </c:pt>
                  <c:pt idx="3">
                    <c:v>French Fries</c:v>
                  </c:pt>
                  <c:pt idx="4">
                    <c:v>Teriyaki Burger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597</c:v>
                </c:pt>
                <c:pt idx="1">
                  <c:v>596</c:v>
                </c:pt>
                <c:pt idx="2">
                  <c:v>594</c:v>
                </c:pt>
                <c:pt idx="3">
                  <c:v>571</c:v>
                </c:pt>
                <c:pt idx="4">
                  <c:v>535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2D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A1F2C"/>
              </a:solidFill>
              <a:effectLst/>
            </c:spPr>
          </c:dPt>
          <c:dPt>
            <c:idx val="1"/>
            <c:bubble3D val="0"/>
            <c:spPr>
              <a:solidFill>
                <a:srgbClr val="FFC72C"/>
              </a:solidFill>
              <a:effectLst/>
            </c:spPr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bubble3D val="0"/>
            <c:spPr>
              <a:solidFill>
                <a:srgbClr val="8B0000"/>
              </a:solidFill>
              <a:effectLst/>
            </c:spPr>
          </c:dPt>
          <c:dPt>
            <c:idx val="4"/>
            <c:bubble3D val="0"/>
            <c:spPr>
              <a:solidFill>
                <a:srgbClr val="E8A00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Burger</c:v>
                </c:pt>
                <c:pt idx="1">
                  <c:v>Chicken</c:v>
                </c:pt>
                <c:pt idx="2">
                  <c:v>Pasta</c:v>
                </c:pt>
                <c:pt idx="3">
                  <c:v>Sandwich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21639.01</c:v>
                </c:pt>
                <c:pt idx="1">
                  <c:v>12393.5</c:v>
                </c:pt>
                <c:pt idx="2">
                  <c:v>9223.05</c:v>
                </c:pt>
                <c:pt idx="3">
                  <c:v>8241.95</c:v>
                </c:pt>
                <c:pt idx="4">
                  <c:v>10129.78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C72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103120" y="6400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McDONALD'S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1887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Analytics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103120" y="2057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Order Pattern Analysis — End-to-End BI Report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2651760"/>
            <a:ext cx="5943600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834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12,234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0312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Transactions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0" y="2834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84048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2834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7784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2834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15200" y="3429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4592" y="4663440"/>
            <a:ext cx="8979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Excel  ·  Power Query  ·  Power Pivot  ·  DAX  ·  Interactive Dashboards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502920" cy="105156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dataset structure &amp; tools used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502920" cy="105156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6012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0515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KPIs at a Glance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4904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avg value &amp; product highlights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2199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21992"/>
            <a:ext cx="502920" cy="105156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2199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134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Sales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523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trends, category performance, top products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221992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221992"/>
            <a:ext cx="502920" cy="105156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2199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23134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Pattern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75234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slots, day-of-week behaviour, day type split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8386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83864"/>
            <a:ext cx="502920" cy="105156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483864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57530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142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sellers, least sold, category revenue ranking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483864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83864"/>
            <a:ext cx="502920" cy="105156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483864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57530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0142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decisions from the data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 STRUCTURE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023360" cy="457200"/>
          </a:xfrm>
          <a:prstGeom prst="rect">
            <a:avLst/>
          </a:prstGeom>
          <a:solidFill>
            <a:srgbClr val="FFF3CC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417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20240"/>
            <a:ext cx="4023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20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1920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1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12,234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Date, Time, Item ID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23160"/>
            <a:ext cx="402336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2423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A1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ID, Name, Category, Price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2468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Order Details [item_id]  →  Menu Items [menu_item_id]  (One-to-Many)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DERIVED COLUMNS (Feature Engineering)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164592" cy="1645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355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Name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39312"/>
            <a:ext cx="164592" cy="1645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118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Name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95344"/>
            <a:ext cx="164592" cy="1645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679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Type (Weekday/Weekend)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151376"/>
            <a:ext cx="164592" cy="1645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1239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 (Morning/Noon/Evening/Night)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407408"/>
            <a:ext cx="164592" cy="16459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3799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Revenue/Price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86868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868680"/>
            <a:ext cx="4206240" cy="41148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WORKFLOW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1426464"/>
            <a:ext cx="365760" cy="365760"/>
          </a:xfrm>
          <a:prstGeom prst="ellipse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1426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66360" y="14447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1719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structure, nulls, duplicates, distributions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73752" y="1828800"/>
            <a:ext cx="0" cy="420624"/>
          </a:xfrm>
          <a:prstGeom prst="line">
            <a:avLst/>
          </a:prstGeom>
          <a:noFill/>
          <a:ln w="19050">
            <a:solidFill>
              <a:srgbClr val="E8E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231136"/>
            <a:ext cx="365760" cy="365760"/>
          </a:xfrm>
          <a:prstGeom prst="ellipse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66360" y="22494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Query ETL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66360" y="2523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→ Clean → Transform → Derive columns → Load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73752" y="2633472"/>
            <a:ext cx="0" cy="420624"/>
          </a:xfrm>
          <a:prstGeom prst="line">
            <a:avLst/>
          </a:prstGeom>
          <a:noFill/>
          <a:ln w="19050">
            <a:solidFill>
              <a:srgbClr val="E8E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3035808"/>
            <a:ext cx="365760" cy="365760"/>
          </a:xfrm>
          <a:prstGeom prst="ellipse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166360" y="30540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66360" y="33284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Pivot relationships, DAX measures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73752" y="3438144"/>
            <a:ext cx="0" cy="420624"/>
          </a:xfrm>
          <a:prstGeom prst="line">
            <a:avLst/>
          </a:prstGeom>
          <a:noFill/>
          <a:ln w="19050">
            <a:solidFill>
              <a:srgbClr val="E8E8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09160" y="3840480"/>
            <a:ext cx="365760" cy="365760"/>
          </a:xfrm>
          <a:prstGeom prst="ellipse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166360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Creation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166360" y="41330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 + Order Pattern Dashboard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KPIs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97480" cy="1737360"/>
          </a:xfrm>
          <a:prstGeom prst="rect">
            <a:avLst/>
          </a:prstGeom>
          <a:solidFill>
            <a:srgbClr val="1F1F3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69748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₹61,626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2677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transactions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82112" y="914400"/>
            <a:ext cx="2697480" cy="1737360"/>
          </a:xfrm>
          <a:prstGeom prst="rect">
            <a:avLst/>
          </a:prstGeom>
          <a:solidFill>
            <a:srgbClr val="1F1F3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914400"/>
            <a:ext cx="269748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1097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5,370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182112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82112" y="22677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line items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9904" y="914400"/>
            <a:ext cx="2697480" cy="1737360"/>
          </a:xfrm>
          <a:prstGeom prst="rect">
            <a:avLst/>
          </a:prstGeom>
          <a:solidFill>
            <a:srgbClr val="1F1F3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914400"/>
            <a:ext cx="269748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0972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₹11.48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89904" y="192024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89904" y="226771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697480" cy="1737360"/>
          </a:xfrm>
          <a:prstGeom prst="rect">
            <a:avLst/>
          </a:prstGeom>
          <a:solidFill>
            <a:srgbClr val="1F1F3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69748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089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Side Salad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74320" y="3931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Ordered Item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2793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 orders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82112" y="2926080"/>
            <a:ext cx="2697480" cy="1737360"/>
          </a:xfrm>
          <a:prstGeom prst="rect">
            <a:avLst/>
          </a:prstGeom>
          <a:solidFill>
            <a:srgbClr val="1F1F3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82112" y="2926080"/>
            <a:ext cx="269748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82112" y="31089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Chicken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Snack Wrap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182112" y="3931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Least Sold Item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82112" y="42793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orders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9904" y="2926080"/>
            <a:ext cx="2697480" cy="1737360"/>
          </a:xfrm>
          <a:prstGeom prst="rect">
            <a:avLst/>
          </a:prstGeom>
          <a:solidFill>
            <a:srgbClr val="1F1F3A"/>
          </a:solidFill>
          <a:ln w="127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2926080"/>
            <a:ext cx="2697480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31089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7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Burger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089904" y="39319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Revenue Category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9904" y="42793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₹21,639 — 35% of total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&amp; Sales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by Month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41148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703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March was the highest revenue month (₹21,123), followed closely by January (₹20,825)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754880" y="822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Category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572000" y="1188720"/>
          <a:ext cx="42976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Weekday vs Weekend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4526280"/>
            <a:ext cx="1920240" cy="50292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7432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Weekday  72.2%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423160" y="4526280"/>
            <a:ext cx="1920240" cy="5029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423160" y="4526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Weekend  27.8%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 Pattern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993392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503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Peak Hour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1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NIGHT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₹28,161 revenue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41448" y="77724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41448" y="777240"/>
            <a:ext cx="1993392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8503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Highest Sales 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41448" y="10972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1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Monday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41448" y="14630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885 orders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77724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777240"/>
            <a:ext cx="1993392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8503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Month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08576" y="10972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1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January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08576" y="14630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₹20,825 revenue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75704" y="777240"/>
            <a:ext cx="19933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777240"/>
            <a:ext cx="1993392" cy="73152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75704" y="8503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Peak Day Type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775704" y="10972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A1F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Weekday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75704" y="14630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3,863 orders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1828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by Time Slot</a:t>
            </a:r>
            <a:endParaRPr lang="en-US" sz="13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194560"/>
          <a:ext cx="41148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754880" y="1828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 by Day of Week</a:t>
            </a:r>
            <a:endParaRPr lang="en-US" sz="13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4572000" y="219456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FFF3C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orders (3,863) vs Weekend orders (1,507)  — Weekdays account for 72% of total order volume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Performance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 Products by Order Volume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Share by Category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303520" y="1188720"/>
          <a:ext cx="35661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93192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3931920"/>
            <a:ext cx="73152" cy="96012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Seller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 Salad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1480" y="4498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597 orders — most ordered item overall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441448" y="393192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41448" y="3931920"/>
            <a:ext cx="73152" cy="9601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78608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Least Sold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2578608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Chicken Snack Wrap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578608" y="4498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orders — consider menu review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608576" y="393192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08576" y="3931920"/>
            <a:ext cx="73152" cy="96012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45736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Revenue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745736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Burger Category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45736" y="4498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₹21,639 — 35.1% of total revenue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775704" y="3931920"/>
            <a:ext cx="19933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775704" y="3931920"/>
            <a:ext cx="7315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12864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Rising Star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12864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Pasta Category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912864" y="44988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₹9,223 — 3rd highest revenue category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73152" cy="123444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 Night Staffing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Night slot generates ₹28,162 — 45.7% of total revenue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81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Increase kitchen &amp; counter staff post 5 PM. Introduce night-special combo deals.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73152" cy="1234440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 Promotions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07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Monday leads with 885 orders — the busiest day of the week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Launch weekday loyalty offers to sustain high weekday traffic (72% of all orders).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2860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212848"/>
            <a:ext cx="73152" cy="123444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Leverage Burger Dominance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596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Burger category = ₹21,639 (35% of total revenue)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871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Bundle burgers with Sides and Drinks. Create upsell prompts at checkout.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21284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12848"/>
            <a:ext cx="73152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Least-Sold Items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596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Chicken Snack Wrap sold only 123 times — lowest of all 32 items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87121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Consider rebranding, discounting, or removing low-performers from the menu.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6027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602736"/>
            <a:ext cx="73152" cy="12344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 Peak Strategy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March is the highest-revenue month at ₹21,123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2611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Plan seasonal campaigns for March. Use Feb dip (₹19,679) for promotional pushes.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60273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602736"/>
            <a:ext cx="73152" cy="1234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75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Weekend Sales Push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986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Weekends contribute only 27.8% of revenue despite 2 full days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42611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Introduce family meal deals and weekend-exclusive offers to boost footfall.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A1F2C"/>
          </a:solidFill>
          <a:ln w="12700">
            <a:solidFill>
              <a:srgbClr val="DA1F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3840480" cy="38404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164592" cy="16459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298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IDs — loyalty analysis not possible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64592" cy="16459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801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branch/store data — regional comparison unavailable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331720"/>
            <a:ext cx="164592" cy="16459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042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quantity column — each row assumed = 1 unit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834640"/>
            <a:ext cx="164592" cy="16459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807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cost/profit data — margin analysis not feasible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164592" cy="16459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3101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method details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164592" cy="16459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813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type (dine-in vs takeaway vs delivery)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82296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822960"/>
            <a:ext cx="3931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8229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132588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12984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forecasting using time-series models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182880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67528" y="18013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(add Customer IDs)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0640" y="233172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528" y="23042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Store-wise performance comparison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283464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67528" y="28072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analysis (add COGS data)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333756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67528" y="33101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product recommendation engine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120640" y="3840480"/>
            <a:ext cx="164592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67528" y="38130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Mobile-optimised interactive dashboards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27432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C72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 Retail Analytics System — End-to-End Business Intelligence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520440"/>
            <a:ext cx="2743200" cy="36576"/>
          </a:xfrm>
          <a:prstGeom prst="rect">
            <a:avLst/>
          </a:prstGeom>
          <a:solidFill>
            <a:srgbClr val="FFC72C"/>
          </a:solidFill>
          <a:ln w="12700">
            <a:solidFill>
              <a:srgbClr val="FFC7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₹61,626 Total Revenue  ·  5,370 Orders  ·  32 Menu Items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050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Night Slot  ·  Top Day: Monday  ·  Best Category: Burger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Rashi Tak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McDonald's Retail Analytics — Insights Report</dc:title>
  <dc:subject>PptxGenJS Presentation</dc:subject>
  <dc:creator>Rashi Tak</dc:creator>
  <cp:lastModifiedBy>Rashi Tak</cp:lastModifiedBy>
  <cp:revision>1</cp:revision>
  <dcterms:created xsi:type="dcterms:W3CDTF">2026-05-19T10:46:24Z</dcterms:created>
  <dcterms:modified xsi:type="dcterms:W3CDTF">2026-05-19T10:46:24Z</dcterms:modified>
</cp:coreProperties>
</file>